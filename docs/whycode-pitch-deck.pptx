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WhyCode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4ADE80"/>
                </a:solidFill>
              </a:defRPr>
            </a:pPr>
            <a:r>
              <a:t>Built on the real history of django/django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D1D5DB"/>
                </a:solidFill>
              </a:defRPr>
            </a:pPr>
            <a:r>
              <a:t>•  Answers one question every developer asks: why is this code like this?</a:t>
            </a:r>
          </a:p>
          <a:p>
            <a:pPr>
              <a:spcAft>
                <a:spcPts val="1400"/>
              </a:spcAft>
              <a:defRPr sz="2000">
                <a:solidFill>
                  <a:srgbClr val="D1D5DB"/>
                </a:solidFill>
              </a:defRPr>
            </a:pPr>
            <a:r>
              <a:t>•  Team FORTEC — hackFront India 2026, Theme: AI and Developer Tools (T-1).</a:t>
            </a:r>
          </a:p>
          <a:p>
            <a:pPr>
              <a:spcAft>
                <a:spcPts val="1400"/>
              </a:spcAft>
              <a:defRPr sz="2000">
                <a:solidFill>
                  <a:srgbClr val="D1D5DB"/>
                </a:solidFill>
              </a:defRPr>
            </a:pPr>
            <a:r>
              <a:t>•  Ronit Shrimankar (lead), Anshul Kamthe, Udita Singh.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D1D5DB"/>
                </a:solidFill>
              </a:defRPr>
            </a:pPr>
            <a:r>
              <a:t>•  Codebases accumulate decisions nobody can explain any more.</a:t>
            </a:r>
          </a:p>
          <a:p>
            <a:pPr>
              <a:spcAft>
                <a:spcPts val="1400"/>
              </a:spcAft>
              <a:defRPr sz="2000">
                <a:solidFill>
                  <a:srgbClr val="D1D5DB"/>
                </a:solidFill>
              </a:defRPr>
            </a:pPr>
            <a:r>
              <a:t>•  A new developer reads an odd function and guesses why it exists.</a:t>
            </a:r>
          </a:p>
          <a:p>
            <a:pPr>
              <a:spcAft>
                <a:spcPts val="1400"/>
              </a:spcAft>
              <a:defRPr sz="2000">
                <a:solidFill>
                  <a:srgbClr val="D1D5DB"/>
                </a:solidFill>
              </a:defRPr>
            </a:pPr>
            <a:r>
              <a:t>•  A wrong guess breaks something the original author fixed on purpose.</a:t>
            </a:r>
          </a:p>
          <a:p>
            <a:pPr>
              <a:spcAft>
                <a:spcPts val="1400"/>
              </a:spcAft>
              <a:defRPr sz="2000">
                <a:solidFill>
                  <a:srgbClr val="D1D5DB"/>
                </a:solidFill>
              </a:defRPr>
            </a:pPr>
            <a:r>
              <a:t>•  The reasons live scattered across commits, pull requests and tickets —</a:t>
            </a:r>
          </a:p>
          <a:p>
            <a:pPr>
              <a:spcAft>
                <a:spcPts val="1400"/>
              </a:spcAft>
              <a:defRPr sz="2000">
                <a:solidFill>
                  <a:srgbClr val="D1D5DB"/>
                </a:solidFill>
              </a:defRPr>
            </a:pPr>
            <a:r>
              <a:t>•  never in one place, never linked to the code they explain.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The solution: WhyCode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D1D5DB"/>
                </a:solidFill>
              </a:defRPr>
            </a:pPr>
            <a:r>
              <a:t>•  Ingest a public repo's commits, PRs and tickets into a graph.</a:t>
            </a:r>
          </a:p>
          <a:p>
            <a:pPr>
              <a:spcAft>
                <a:spcPts val="1400"/>
              </a:spcAft>
              <a:defRPr sz="2000">
                <a:solidFill>
                  <a:srgbClr val="D1D5DB"/>
                </a:solidFill>
              </a:defRPr>
            </a:pPr>
            <a:r>
              <a:t>•  Code entities linked to the decisions, people and incidents behind them.</a:t>
            </a:r>
          </a:p>
          <a:p>
            <a:pPr>
              <a:spcAft>
                <a:spcPts val="1400"/>
              </a:spcAft>
              <a:defRPr sz="2000">
                <a:solidFill>
                  <a:srgbClr val="D1D5DB"/>
                </a:solidFill>
              </a:defRPr>
            </a:pPr>
            <a:r>
              <a:t>•  Ask a plain-language 'why' question and get a cited evidence chain,</a:t>
            </a:r>
          </a:p>
          <a:p>
            <a:pPr>
              <a:spcAft>
                <a:spcPts val="1400"/>
              </a:spcAft>
              <a:defRPr sz="2000">
                <a:solidFill>
                  <a:srgbClr val="D1D5DB"/>
                </a:solidFill>
              </a:defRPr>
            </a:pPr>
            <a:r>
              <a:t>•  a confidence score — and a refusal when the graph holds no evidence.</a:t>
            </a:r>
          </a:p>
          <a:p>
            <a:pPr>
              <a:spcAft>
                <a:spcPts val="1400"/>
              </a:spcAft>
              <a:defRPr sz="2000">
                <a:solidFill>
                  <a:srgbClr val="D1D5DB"/>
                </a:solidFill>
              </a:defRPr>
            </a:pPr>
            <a:r>
              <a:t>•  No invented answers, ever. The refusal is a feature, not a gap.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D1D5DB"/>
                </a:solidFill>
              </a:defRPr>
            </a:pPr>
            <a:r>
              <a:t>•  1. Ingest — GitHub API via gh CLI (commits, PRs) plus Trac tickets,</a:t>
            </a:r>
          </a:p>
          <a:p>
            <a:pPr>
              <a:spcAft>
                <a:spcPts val="1400"/>
              </a:spcAft>
              <a:defRPr sz="2000">
                <a:solidFill>
                  <a:srgbClr val="D1D5DB"/>
                </a:solidFill>
              </a:defRPr>
            </a:pPr>
            <a:r>
              <a:t>•     because Django tracks decisions in Trac, not GitHub Issues.</a:t>
            </a:r>
          </a:p>
          <a:p>
            <a:pPr>
              <a:spcAft>
                <a:spcPts val="1400"/>
              </a:spcAft>
              <a:defRPr sz="2000">
                <a:solidFill>
                  <a:srgbClr val="D1D5DB"/>
                </a:solidFill>
              </a:defRPr>
            </a:pPr>
            <a:r>
              <a:t>•  2. Graph — entities (commit, PR, ticket, file, person) and edges</a:t>
            </a:r>
          </a:p>
          <a:p>
            <a:pPr>
              <a:spcAft>
                <a:spcPts val="1400"/>
              </a:spcAft>
              <a:defRPr sz="2000">
                <a:solidFill>
                  <a:srgbClr val="D1D5DB"/>
                </a:solidFill>
              </a:defRPr>
            </a:pPr>
            <a:r>
              <a:t>•     (authored, fixes, references, touches, supersedes).</a:t>
            </a:r>
          </a:p>
          <a:p>
            <a:pPr>
              <a:spcAft>
                <a:spcPts val="1400"/>
              </a:spcAft>
              <a:defRPr sz="2000">
                <a:solidFill>
                  <a:srgbClr val="D1D5DB"/>
                </a:solidFill>
              </a:defRPr>
            </a:pPr>
            <a:r>
              <a:t>•  3. Ask — match the question to entities, walk the evidence chain,</a:t>
            </a:r>
          </a:p>
          <a:p>
            <a:pPr>
              <a:spcAft>
                <a:spcPts val="1400"/>
              </a:spcAft>
              <a:defRPr sz="2000">
                <a:solidFill>
                  <a:srgbClr val="D1D5DB"/>
                </a:solidFill>
              </a:defRPr>
            </a:pPr>
            <a:r>
              <a:t>•     flag decisions superseded by newer ones, refuse when evidence is absent.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Demo: real answers from the Django 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D1D5DB"/>
                </a:solidFill>
              </a:defRPr>
            </a:pPr>
            <a:r>
              <a:t>•  'Why does ignore_warnings match substrings by default?' — 0.99,</a:t>
            </a:r>
          </a:p>
          <a:p>
            <a:pPr>
              <a:spcAft>
                <a:spcPts val="1400"/>
              </a:spcAft>
              <a:defRPr sz="2000">
                <a:solidFill>
                  <a:srgbClr val="D1D5DB"/>
                </a:solidFill>
              </a:defRPr>
            </a:pPr>
            <a:r>
              <a:t>•    chained to Trac ticket #37089 and its fixing commit.</a:t>
            </a:r>
          </a:p>
          <a:p>
            <a:pPr>
              <a:spcAft>
                <a:spcPts val="1400"/>
              </a:spcAft>
              <a:defRPr sz="2000">
                <a:solidFill>
                  <a:srgbClr val="D1D5DB"/>
                </a:solidFill>
              </a:defRPr>
            </a:pPr>
            <a:r>
              <a:t>•  'Why is there a transitional option to disable multiline template tags?'</a:t>
            </a:r>
          </a:p>
          <a:p>
            <a:pPr>
              <a:spcAft>
                <a:spcPts val="1400"/>
              </a:spcAft>
              <a:defRPr sz="2000">
                <a:solidFill>
                  <a:srgbClr val="D1D5DB"/>
                </a:solidFill>
              </a:defRPr>
            </a:pPr>
            <a:r>
              <a:t>•    — 0.86, chained to ticket #35899.</a:t>
            </a:r>
          </a:p>
          <a:p>
            <a:pPr>
              <a:spcAft>
                <a:spcPts val="1400"/>
              </a:spcAft>
              <a:defRPr sz="2000">
                <a:solidFill>
                  <a:srgbClr val="D1D5DB"/>
                </a:solidFill>
              </a:defRPr>
            </a:pPr>
            <a:r>
              <a:t>•  'Why is Python 3.15 compatibility being added?' — 0.99,</a:t>
            </a:r>
          </a:p>
          <a:p>
            <a:pPr>
              <a:spcAft>
                <a:spcPts val="1400"/>
              </a:spcAft>
              <a:defRPr sz="2000">
                <a:solidFill>
                  <a:srgbClr val="D1D5DB"/>
                </a:solidFill>
              </a:defRPr>
            </a:pPr>
            <a:r>
              <a:t>•    25 linked records around ticket #36664.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The refusal, honestly demonstrated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D1D5DB"/>
                </a:solidFill>
              </a:defRPr>
            </a:pPr>
            <a:r>
              <a:t>•  'Why does Django use a microservices architecture?' — REFUSED.</a:t>
            </a:r>
          </a:p>
          <a:p>
            <a:pPr>
              <a:spcAft>
                <a:spcPts val="1400"/>
              </a:spcAft>
              <a:defRPr sz="2000">
                <a:solidFill>
                  <a:srgbClr val="D1D5DB"/>
                </a:solidFill>
              </a:defRPr>
            </a:pPr>
            <a:r>
              <a:t>•  The term appears in no ingested record, so the engine refuses</a:t>
            </a:r>
          </a:p>
          <a:p>
            <a:pPr>
              <a:spcAft>
                <a:spcPts val="1400"/>
              </a:spcAft>
              <a:defRPr sz="2000">
                <a:solidFill>
                  <a:srgbClr val="D1D5DB"/>
                </a:solidFill>
              </a:defRPr>
            </a:pPr>
            <a:r>
              <a:t>•  instead of answering from the nearest generic match.</a:t>
            </a:r>
          </a:p>
          <a:p>
            <a:pPr>
              <a:spcAft>
                <a:spcPts val="1400"/>
              </a:spcAft>
              <a:defRPr sz="2000">
                <a:solidFill>
                  <a:srgbClr val="D1D5DB"/>
                </a:solidFill>
              </a:defRPr>
            </a:pPr>
            <a:r>
              <a:t>•  An earlier version answered this from an unrelated docs commit;</a:t>
            </a:r>
          </a:p>
          <a:p>
            <a:pPr>
              <a:spcAft>
                <a:spcPts val="1400"/>
              </a:spcAft>
              <a:defRPr sz="2000">
                <a:solidFill>
                  <a:srgbClr val="D1D5DB"/>
                </a:solidFill>
              </a:defRPr>
            </a:pPr>
            <a:r>
              <a:t>•  the absent-term rule plus a regression test fixed that for good.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Engineering: runnable, tested, no magic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D1D5DB"/>
                </a:solidFill>
              </a:defRPr>
            </a:pPr>
            <a:r>
              <a:t>•  Python standard library only; SQLite graph; no paid APIs, no accounts.</a:t>
            </a:r>
          </a:p>
          <a:p>
            <a:pPr>
              <a:spcAft>
                <a:spcPts val="1400"/>
              </a:spcAft>
              <a:defRPr sz="2000">
                <a:solidFill>
                  <a:srgbClr val="D1D5DB"/>
                </a:solidFill>
              </a:defRPr>
            </a:pPr>
            <a:r>
              <a:t>•  The bundled database runs the whole demo with zero credentials.</a:t>
            </a:r>
          </a:p>
          <a:p>
            <a:pPr>
              <a:spcAft>
                <a:spcPts val="1400"/>
              </a:spcAft>
              <a:defRPr sz="2000">
                <a:solidFill>
                  <a:srgbClr val="D1D5DB"/>
                </a:solidFill>
              </a:defRPr>
            </a:pPr>
            <a:r>
              <a:t>•  10/10 automated tests, including refusal and supersession cases.</a:t>
            </a:r>
          </a:p>
          <a:p>
            <a:pPr>
              <a:spcAft>
                <a:spcPts val="1400"/>
              </a:spcAft>
              <a:defRPr sz="2000">
                <a:solidFill>
                  <a:srgbClr val="D1D5DB"/>
                </a:solidFill>
              </a:defRPr>
            </a:pPr>
            <a:r>
              <a:t>•  Graph today: 200 commits, 100 PRs, 100 Trac tickets, 161 files,</a:t>
            </a:r>
          </a:p>
          <a:p>
            <a:pPr>
              <a:spcAft>
                <a:spcPts val="1400"/>
              </a:spcAft>
              <a:defRPr sz="2000">
                <a:solidFill>
                  <a:srgbClr val="D1D5DB"/>
                </a:solidFill>
              </a:defRPr>
            </a:pPr>
            <a:r>
              <a:t>•  90 people, 630 edges — all from Django's real, public history.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Who it helps, and what is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D1D5DB"/>
                </a:solidFill>
              </a:defRPr>
            </a:pPr>
            <a:r>
              <a:t>•  Onboarding developers, reviewers and maintainers stop guessing at</a:t>
            </a:r>
          </a:p>
          <a:p>
            <a:pPr>
              <a:spcAft>
                <a:spcPts val="1400"/>
              </a:spcAft>
              <a:defRPr sz="2000">
                <a:solidFill>
                  <a:srgbClr val="D1D5DB"/>
                </a:solidFill>
              </a:defRPr>
            </a:pPr>
            <a:r>
              <a:t>•  history and start citing it.</a:t>
            </a:r>
          </a:p>
          <a:p>
            <a:pPr>
              <a:spcAft>
                <a:spcPts val="1400"/>
              </a:spcAft>
              <a:defRPr sz="2000">
                <a:solidFill>
                  <a:srgbClr val="D1D5DB"/>
                </a:solidFill>
              </a:defRPr>
            </a:pPr>
            <a:r>
              <a:t>•  Next: function-level entities (today: file-level), Django Enhancement</a:t>
            </a:r>
          </a:p>
          <a:p>
            <a:pPr>
              <a:spcAft>
                <a:spcPts val="1400"/>
              </a:spcAft>
              <a:defRPr sz="2000">
                <a:solidFill>
                  <a:srgbClr val="D1D5DB"/>
                </a:solidFill>
              </a:defRPr>
            </a:pPr>
            <a:r>
              <a:t>•  Proposals as design-doc evidence, and a Neo4j adapter for the</a:t>
            </a:r>
          </a:p>
          <a:p>
            <a:pPr>
              <a:spcAft>
                <a:spcPts val="1400"/>
              </a:spcAft>
              <a:defRPr sz="2000">
                <a:solidFill>
                  <a:srgbClr val="D1D5DB"/>
                </a:solidFill>
              </a:defRPr>
            </a:pPr>
            <a:r>
              <a:t>•  partner track. The local graph already runs without any of that.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WhyCode — by FORTEC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D1D5DB"/>
                </a:solidFill>
              </a:defRPr>
            </a:pPr>
            <a:r>
              <a:t>•  Repo: github.com/eres0045/hackfront-fortec (public, with setup steps).</a:t>
            </a:r>
          </a:p>
          <a:p>
            <a:pPr>
              <a:spcAft>
                <a:spcPts val="1400"/>
              </a:spcAft>
              <a:defRPr sz="2000">
                <a:solidFill>
                  <a:srgbClr val="D1D5DB"/>
                </a:solidFill>
              </a:defRPr>
            </a:pPr>
            <a:r>
              <a:t>•  Demo: python -m whycode.cli --db data/whycode.db --question 'Why ...?'</a:t>
            </a:r>
          </a:p>
          <a:p>
            <a:pPr>
              <a:spcAft>
                <a:spcPts val="1400"/>
              </a:spcAft>
              <a:defRPr sz="2000">
                <a:solidFill>
                  <a:srgbClr val="D1D5DB"/>
                </a:solidFill>
              </a:defRPr>
            </a:pPr>
            <a:r>
              <a:t>•  Built during the hackFront league timeline, from Django's real history.</a:t>
            </a:r>
          </a:p>
          <a:p>
            <a:pPr>
              <a:spcAft>
                <a:spcPts val="1400"/>
              </a:spcAft>
              <a:defRPr sz="2000">
                <a:solidFill>
                  <a:srgbClr val="D1D5DB"/>
                </a:solidFill>
              </a:defRPr>
            </a:pPr>
            <a:r>
              <a:t>•  Thank you — questions welcome.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